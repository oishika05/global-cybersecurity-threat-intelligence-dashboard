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1463040" cy="146304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1BB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9436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THREATS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310896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DASHBOARD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828800" y="3886200"/>
            <a:ext cx="8503920" cy="36576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Analysis of Global Cyber Attack Patterns, Attack Types, Financial Impact &amp; Risk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120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USED- MICROSOFT POWER 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BY-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BATCH-2 GROUP-D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provides a comprehensive view of global cybersecurity incidents across multiple countries and industries. It covers attack patterns, financial losses, affected users, and resolution strategies from 2015 to 2024.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consists of 3,000 records and is structured to support threat intelligence and risk analytics.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4754880" cy="27432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Components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8130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attack records spanning 2015–2024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43616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 across Asia, Europe &amp; Americas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491032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targeted (IT, Banking, Healthcare...)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44068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40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545896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including DDoS, Phishing, Ransomware...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1005840"/>
            <a:ext cx="2926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1078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Country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1444752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countries: Brazil, UK, India, Japan, USA, Russia, Australia, Germany, France, China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834640"/>
            <a:ext cx="2926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9320" y="2907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Year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3273552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spans 2015–2024, enabling decade-long trend analysis of cyber incidents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4663440"/>
            <a:ext cx="2926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89320" y="4736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Attack 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89320" y="5102352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(531), Phishing (529), SQL Injection (503), Ransomware (493), MitM (459), Malware (485)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61120" y="1005840"/>
            <a:ext cx="2926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098280" y="10789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Target Industry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98280" y="1444752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(478), Banking, Government, Healthcare, Retail, Education, Telecommunications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61120" y="2834640"/>
            <a:ext cx="2926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98280" y="2907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 Loss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98280" y="3273552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$50.49M per incident; total losses reveal significant economic impact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61120" y="4663440"/>
            <a:ext cx="292608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098280" y="4736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Users Affected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98280" y="5102352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 Billion total users affected; reveals scale and breadth of cyber attacks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6634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globally lack a unified intelligence system to monitor, correlate, and analyze cybersecurity threats in real time. This results in: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Delayed incident detection and response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Insufficient visibility into cross-industry attack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understanding of financial exposure per attack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Inability to correlate threat sources with vulnerabilities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develop an analytical solution that integrates multi-country, multi-industry threat data to deliver actionable cyber intelligence.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630936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0" y="91440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0058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0" y="109728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global cyber attack trends by year, country, and industry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874520"/>
            <a:ext cx="630936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91440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8745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72200" y="196596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attack types and their financial &amp; user impact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2743200"/>
            <a:ext cx="630936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77840" y="91440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274320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security vulnerability types driving cyber incidents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3611880"/>
            <a:ext cx="630936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91440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5577840" y="361188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370332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incident resolution time across different attack categories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4480560"/>
            <a:ext cx="630936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91440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448056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457200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heatmap of financial loss by industry and attack type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77840" y="5349240"/>
            <a:ext cx="630936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914400"/>
            <a:ext cx="502920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534924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2200" y="5440680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strategic cybersecurity decision-making via interactive dashboards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DASHBOARD</a:t>
            </a:r>
            <a:endParaRPr lang="en-US" sz="2600" dirty="0"/>
          </a:p>
        </p:txBody>
      </p:sp>
      <p:pic>
        <p:nvPicPr>
          <p:cNvPr id="4" name="Image 0" descr="/mnt/user-data/uploads/1778443409614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60120"/>
            <a:ext cx="11795760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KEY OBSERVATIONS &amp;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82880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Cyber Attacks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recorded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1005840"/>
            <a:ext cx="182880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12848" y="1005840"/>
            <a:ext cx="182880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2258568" y="1005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Financial Loss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58568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$50.49M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58568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incident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51376" y="1005840"/>
            <a:ext cx="182880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51376" y="1005840"/>
            <a:ext cx="182880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197096" y="1005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 Time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97096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36.48 hrs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97096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9904" y="1005840"/>
            <a:ext cx="182880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005840"/>
            <a:ext cx="182880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135624" y="1005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 Affected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35624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35624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attacks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28432" y="1005840"/>
            <a:ext cx="182880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28432" y="1005840"/>
            <a:ext cx="182880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8074152" y="1005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Attack Type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74152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074152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 incidents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66960" y="1005840"/>
            <a:ext cx="1828800" cy="1325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966960" y="1005840"/>
            <a:ext cx="182880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10012680" y="1005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Target Industry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12680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012680" y="1847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incidents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514600"/>
            <a:ext cx="557784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26060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1480" y="3017520"/>
            <a:ext cx="164592" cy="164592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97180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cyber attacks stand at 3,000, spread across 10 countries and 7 industries over a decade (2015–2024).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3465576"/>
            <a:ext cx="164592" cy="164592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41985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is the most frequent attack type (531 incidents), while Phishing follows closely at 529 incidents.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913632"/>
            <a:ext cx="164592" cy="164592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3867912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 is the most targeted industry (478 attacks), reflecting its critical digital infrastructure.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361688"/>
            <a:ext cx="164592" cy="164592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315968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leads all countries with 321 attacks, followed by Brazil (310) and India (308).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4809744"/>
            <a:ext cx="164592" cy="164592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764024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volumes show fluctuation year-over-year, peaking in 2016 (319) and declining to 299 by 2024.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5257800"/>
            <a:ext cx="164592" cy="164592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212080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attack sources account for 768 incidents — the highest — suggesting attribution challenges.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5705856"/>
            <a:ext cx="164592" cy="164592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5660136"/>
            <a:ext cx="5074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and Insider threats together represent over 1,500 incidents, signaling advanced threat actors.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2514600"/>
            <a:ext cx="5760720" cy="3794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09360" y="26060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263640" y="3044952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446520" y="29718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dominance requires robust traffic-filtering and CDN-based mitigation strategies at the network perimeter.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3493008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341985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 concentration indicates critical infrastructure is under continuous adversarial pressure.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63640" y="3941064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6446520" y="38679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and Brazil emerging as top targets warrants country-specific threat intelligence frameworks.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63640" y="4389120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6446520" y="431596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unknown-source attribution underscores the need for improved threat actor fingerprinting &amp; OSINT.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63640" y="4837176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6446520" y="476402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actors demand diplomatic and defense-grade cybersecurity coordination.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63640" y="5285232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6446520" y="52120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volume variability year-to-year suggests evolving attacker motivations and geopolitical triggers.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263640" y="5733288"/>
            <a:ext cx="10972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6446520" y="566013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Multi-industry spread highlights need for cross-sector information sharing and unified SIEM platforms.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&amp; RISK ANALYSIS DASHBOARD</a:t>
            </a:r>
            <a:endParaRPr lang="en-US" sz="2400" dirty="0"/>
          </a:p>
        </p:txBody>
      </p:sp>
      <p:pic>
        <p:nvPicPr>
          <p:cNvPr id="4" name="Image 0" descr="/mnt/user-data/uploads/1778443439678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60120"/>
            <a:ext cx="11795760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— KEY OBSERVATIONS &amp;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74904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by Attack Type (hrs)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1600200"/>
            <a:ext cx="18288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600200"/>
            <a:ext cx="1316736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3794760" y="15819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2350008"/>
            <a:ext cx="18288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2350008"/>
            <a:ext cx="1371600" cy="228600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3317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37.07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081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3099816"/>
            <a:ext cx="18288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3099816"/>
            <a:ext cx="1353312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3081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83133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3849624"/>
            <a:ext cx="18288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3849624"/>
            <a:ext cx="1316736" cy="228600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38313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35.91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581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4599432"/>
            <a:ext cx="18288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4599432"/>
            <a:ext cx="1353312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45811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53309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20240" y="5349240"/>
            <a:ext cx="18288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1920240" y="5349240"/>
            <a:ext cx="1353312" cy="228600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53309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36.91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51960" y="1005840"/>
            <a:ext cx="374904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89120" y="10789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 by Total Attacks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4340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1709928"/>
            <a:ext cx="13716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Shape 32"/>
          <p:cNvSpPr/>
          <p:nvPr/>
        </p:nvSpPr>
        <p:spPr>
          <a:xfrm>
            <a:off x="6263640" y="1709928"/>
            <a:ext cx="1280732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16916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Software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715768"/>
            <a:ext cx="13716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2715768"/>
            <a:ext cx="1265301" cy="256032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0" y="26974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434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3721608"/>
            <a:ext cx="13716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Shape 40"/>
          <p:cNvSpPr/>
          <p:nvPr/>
        </p:nvSpPr>
        <p:spPr>
          <a:xfrm>
            <a:off x="6263640" y="3721608"/>
            <a:ext cx="1251585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0" y="37033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434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4727448"/>
            <a:ext cx="137160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Shape 44"/>
          <p:cNvSpPr/>
          <p:nvPr/>
        </p:nvSpPr>
        <p:spPr>
          <a:xfrm>
            <a:off x="6263640" y="4727448"/>
            <a:ext cx="1345883" cy="256032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47091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29600" y="1005840"/>
            <a:ext cx="370332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321040" y="107899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 (Avg $M) vs. Users Affected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Attack Type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21040" y="1783080"/>
            <a:ext cx="3474720" cy="621792"/>
          </a:xfrm>
          <a:prstGeom prst="rect">
            <a:avLst/>
          </a:prstGeom>
          <a:solidFill>
            <a:srgbClr val="0C3249"/>
          </a:solidFill>
          <a:ln w="12700">
            <a:solidFill>
              <a:srgbClr val="0C32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36676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3272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27,631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321040" y="2130552"/>
            <a:ext cx="3200333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4" name="Shape 52"/>
          <p:cNvSpPr/>
          <p:nvPr/>
        </p:nvSpPr>
        <p:spPr>
          <a:xfrm>
            <a:off x="8321040" y="2532888"/>
            <a:ext cx="3474720" cy="621792"/>
          </a:xfrm>
          <a:prstGeom prst="rect">
            <a:avLst/>
          </a:prstGeom>
          <a:solidFill>
            <a:srgbClr val="0C3249"/>
          </a:solidFill>
          <a:ln w="12700">
            <a:solidFill>
              <a:srgbClr val="0C32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36676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332720" y="2578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23,968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321040" y="2880360"/>
            <a:ext cx="2776070" cy="164592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58" name="Shape 56"/>
          <p:cNvSpPr/>
          <p:nvPr/>
        </p:nvSpPr>
        <p:spPr>
          <a:xfrm>
            <a:off x="8321040" y="3282696"/>
            <a:ext cx="3474720" cy="621792"/>
          </a:xfrm>
          <a:prstGeom prst="rect">
            <a:avLst/>
          </a:prstGeom>
          <a:solidFill>
            <a:srgbClr val="0C3249"/>
          </a:solidFill>
          <a:ln w="12700">
            <a:solidFill>
              <a:srgbClr val="0C32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366760" y="33284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32720" y="33284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23,551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321040" y="3630168"/>
            <a:ext cx="2727771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8321040" y="4032504"/>
            <a:ext cx="3474720" cy="621792"/>
          </a:xfrm>
          <a:prstGeom prst="rect">
            <a:avLst/>
          </a:prstGeom>
          <a:solidFill>
            <a:srgbClr val="0C3249"/>
          </a:solidFill>
          <a:ln w="12700">
            <a:solidFill>
              <a:srgbClr val="0C32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366760" y="40782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332720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26,693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321040" y="4379976"/>
            <a:ext cx="3091690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6" name="Shape 64"/>
          <p:cNvSpPr/>
          <p:nvPr/>
        </p:nvSpPr>
        <p:spPr>
          <a:xfrm>
            <a:off x="8321040" y="4782312"/>
            <a:ext cx="3474720" cy="621792"/>
          </a:xfrm>
          <a:prstGeom prst="rect">
            <a:avLst/>
          </a:prstGeom>
          <a:solidFill>
            <a:srgbClr val="0C3249"/>
          </a:solidFill>
          <a:ln w="12700">
            <a:solidFill>
              <a:srgbClr val="0C32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8366760" y="4828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332720" y="4828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24,479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321040" y="5129784"/>
            <a:ext cx="2835256" cy="164592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70" name="Shape 68"/>
          <p:cNvSpPr/>
          <p:nvPr/>
        </p:nvSpPr>
        <p:spPr>
          <a:xfrm>
            <a:off x="8321040" y="5532120"/>
            <a:ext cx="3474720" cy="621792"/>
          </a:xfrm>
          <a:prstGeom prst="rect">
            <a:avLst/>
          </a:prstGeom>
          <a:solidFill>
            <a:srgbClr val="0C3249"/>
          </a:solidFill>
          <a:ln w="12700">
            <a:solidFill>
              <a:srgbClr val="0C32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8366760" y="5577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0332720" y="5577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25,157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321040" y="5879592"/>
            <a:ext cx="2913784" cy="164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4" name="Shape 7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 &amp; SOURCE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76072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Distribution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286000" cy="1828800"/>
          </a:xfrm>
          <a:prstGeom prst="rect">
            <a:avLst/>
          </a:prstGeom>
          <a:solidFill>
            <a:srgbClr val="0A1628"/>
          </a:solidFill>
          <a:ln w="6350">
            <a:solidFill>
              <a:srgbClr val="14A0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18488"/>
            <a:ext cx="2194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1783080" cy="1828800"/>
          </a:xfrm>
          <a:prstGeom prst="rect">
            <a:avLst/>
          </a:prstGeom>
          <a:solidFill>
            <a:srgbClr val="0C3249"/>
          </a:solidFill>
          <a:ln w="6350">
            <a:solidFill>
              <a:srgbClr val="14A0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618488"/>
            <a:ext cx="1691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508760"/>
            <a:ext cx="1508760" cy="1828800"/>
          </a:xfrm>
          <a:prstGeom prst="rect">
            <a:avLst/>
          </a:prstGeom>
          <a:solidFill>
            <a:srgbClr val="0E4A6E"/>
          </a:solidFill>
          <a:ln w="6350">
            <a:solidFill>
              <a:srgbClr val="14A0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18488"/>
            <a:ext cx="1417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83280"/>
            <a:ext cx="2834640" cy="1188720"/>
          </a:xfrm>
          <a:prstGeom prst="rect">
            <a:avLst/>
          </a:prstGeom>
          <a:solidFill>
            <a:srgbClr val="0D5E5E"/>
          </a:solidFill>
          <a:ln w="6350">
            <a:solidFill>
              <a:srgbClr val="14A0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93008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383280"/>
            <a:ext cx="2788920" cy="1188720"/>
          </a:xfrm>
          <a:prstGeom prst="rect">
            <a:avLst/>
          </a:prstGeom>
          <a:solidFill>
            <a:srgbClr val="065A82"/>
          </a:solidFill>
          <a:ln w="6350">
            <a:solidFill>
              <a:srgbClr val="14A0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493008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577840" cy="3657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0789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Source vs Total Attacks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2709824"/>
            <a:ext cx="1005840" cy="1725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4995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462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Group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63840" y="2543861"/>
            <a:ext cx="1005840" cy="1890979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2333549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26680" y="4462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89720" y="2438248"/>
            <a:ext cx="1005840" cy="19965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22279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52560" y="4462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15600" y="2503627"/>
            <a:ext cx="1005840" cy="1931213"/>
          </a:xfrm>
          <a:prstGeom prst="rect">
            <a:avLst/>
          </a:prstGeom>
          <a:solidFill>
            <a:srgbClr val="0C3249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0" y="2293315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378440" y="44622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754880"/>
            <a:ext cx="11612880" cy="155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818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212080"/>
            <a:ext cx="137160" cy="13716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5166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leads all attack types at 531 incidents, highlighting network-layer threats as the primary concern.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5212080"/>
            <a:ext cx="137160" cy="13716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516636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sources (768) are the most common attack origin, emphasizing attribution gaps in threat intelligence.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23560"/>
            <a:ext cx="137160" cy="13716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55778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actors (794) represent the most identified threat source, pointing to geopolitical cyber warfare.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5623560"/>
            <a:ext cx="137160" cy="13716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55778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(503) remains prevalent, indicating systemic application-layer security weaknesses across industries.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 ANALYSIS — LOSS HEATMAP BY INDUSTRY &amp; ATTACK 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94560" y="1005840"/>
            <a:ext cx="1581912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10058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22192" y="1005840"/>
            <a:ext cx="1581912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3822192" y="10058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49824" y="1005840"/>
            <a:ext cx="1581912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449824" y="10058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77456" y="1005840"/>
            <a:ext cx="1581912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7077456" y="10058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705088" y="1005840"/>
            <a:ext cx="1581912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8705088" y="10058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332720" y="1005840"/>
            <a:ext cx="1581912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0" y="1005840"/>
            <a:ext cx="1581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1874520" cy="6217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4630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1463040"/>
            <a:ext cx="1581912" cy="621792"/>
          </a:xfrm>
          <a:prstGeom prst="rect">
            <a:avLst/>
          </a:prstGeom>
          <a:solidFill>
            <a:srgbClr val="1D5474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146304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3,945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22192" y="1463040"/>
            <a:ext cx="1581912" cy="621792"/>
          </a:xfrm>
          <a:prstGeom prst="rect">
            <a:avLst/>
          </a:prstGeom>
          <a:solidFill>
            <a:srgbClr val="0E2234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146304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2,660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9824" y="1463040"/>
            <a:ext cx="1581912" cy="621792"/>
          </a:xfrm>
          <a:prstGeom prst="rect">
            <a:avLst/>
          </a:prstGeom>
          <a:solidFill>
            <a:srgbClr val="1B506F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46304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077456" y="1463040"/>
            <a:ext cx="1581912" cy="621792"/>
          </a:xfrm>
          <a:prstGeom prst="rect">
            <a:avLst/>
          </a:prstGeom>
          <a:solidFill>
            <a:srgbClr val="2A82B0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46304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5,146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05088" y="1463040"/>
            <a:ext cx="1581912" cy="621792"/>
          </a:xfrm>
          <a:prstGeom prst="rect">
            <a:avLst/>
          </a:prstGeom>
          <a:solidFill>
            <a:srgbClr val="17415B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05088" y="146304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3,445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332720" y="1463040"/>
            <a:ext cx="1581912" cy="621792"/>
          </a:xfrm>
          <a:prstGeom prst="rect">
            <a:avLst/>
          </a:prstGeom>
          <a:solidFill>
            <a:srgbClr val="1A4C6A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0" y="146304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3,737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130552"/>
            <a:ext cx="18745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13055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0" y="2130552"/>
            <a:ext cx="1581912" cy="621792"/>
          </a:xfrm>
          <a:prstGeom prst="rect">
            <a:avLst/>
          </a:prstGeom>
          <a:solidFill>
            <a:srgbClr val="1B5070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213055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3,850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22192" y="2130552"/>
            <a:ext cx="1581912" cy="621792"/>
          </a:xfrm>
          <a:prstGeom prst="rect">
            <a:avLst/>
          </a:prstGeom>
          <a:solidFill>
            <a:srgbClr val="163D57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22192" y="213055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3,351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49824" y="2130552"/>
            <a:ext cx="1581912" cy="621792"/>
          </a:xfrm>
          <a:prstGeom prst="rect">
            <a:avLst/>
          </a:prstGeom>
          <a:solidFill>
            <a:srgbClr val="102A3D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9824" y="213055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77456" y="2130552"/>
            <a:ext cx="1581912" cy="621792"/>
          </a:xfrm>
          <a:prstGeom prst="rect">
            <a:avLst/>
          </a:prstGeom>
          <a:solidFill>
            <a:srgbClr val="17415B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77456" y="213055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3,445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05088" y="2130552"/>
            <a:ext cx="1581912" cy="621792"/>
          </a:xfrm>
          <a:prstGeom prst="rect">
            <a:avLst/>
          </a:prstGeom>
          <a:solidFill>
            <a:srgbClr val="163F59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05088" y="213055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332720" y="2130552"/>
            <a:ext cx="1581912" cy="621792"/>
          </a:xfrm>
          <a:prstGeom prst="rect">
            <a:avLst/>
          </a:prstGeom>
          <a:solidFill>
            <a:srgbClr val="14364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32720" y="213055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3,176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798064"/>
            <a:ext cx="1874520" cy="6217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798064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94560" y="2798064"/>
            <a:ext cx="1581912" cy="621792"/>
          </a:xfrm>
          <a:prstGeom prst="rect">
            <a:avLst/>
          </a:prstGeom>
          <a:solidFill>
            <a:srgbClr val="1E5779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0" y="2798064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4,042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22192" y="2798064"/>
            <a:ext cx="1581912" cy="621792"/>
          </a:xfrm>
          <a:prstGeom prst="rect">
            <a:avLst/>
          </a:prstGeom>
          <a:solidFill>
            <a:srgbClr val="153A52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22192" y="2798064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49824" y="2798064"/>
            <a:ext cx="1581912" cy="621792"/>
          </a:xfrm>
          <a:prstGeom prst="rect">
            <a:avLst/>
          </a:prstGeom>
          <a:solidFill>
            <a:srgbClr val="112D42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49824" y="2798064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2,947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077456" y="2798064"/>
            <a:ext cx="1581912" cy="621792"/>
          </a:xfrm>
          <a:prstGeom prst="rect">
            <a:avLst/>
          </a:prstGeom>
          <a:solidFill>
            <a:srgbClr val="18435F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77456" y="2798064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3,516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705088" y="2798064"/>
            <a:ext cx="1581912" cy="621792"/>
          </a:xfrm>
          <a:prstGeom prst="rect">
            <a:avLst/>
          </a:prstGeom>
          <a:solidFill>
            <a:srgbClr val="194966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05088" y="2798064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3,661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332720" y="2798064"/>
            <a:ext cx="1581912" cy="621792"/>
          </a:xfrm>
          <a:prstGeom prst="rect">
            <a:avLst/>
          </a:prstGeom>
          <a:solidFill>
            <a:srgbClr val="1B4D6C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32720" y="2798064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3465576"/>
            <a:ext cx="18745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3465576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194560" y="3465576"/>
            <a:ext cx="1581912" cy="621792"/>
          </a:xfrm>
          <a:prstGeom prst="rect">
            <a:avLst/>
          </a:prstGeom>
          <a:solidFill>
            <a:srgbClr val="1B4E6D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94560" y="3465576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822192" y="3465576"/>
            <a:ext cx="1581912" cy="621792"/>
          </a:xfrm>
          <a:prstGeom prst="rect">
            <a:avLst/>
          </a:prstGeom>
          <a:solidFill>
            <a:srgbClr val="1E5A7D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22192" y="3465576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4,114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49824" y="3465576"/>
            <a:ext cx="1581912" cy="621792"/>
          </a:xfrm>
          <a:prstGeom prst="rect">
            <a:avLst/>
          </a:prstGeom>
          <a:solidFill>
            <a:srgbClr val="0F2538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49824" y="3465576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2,738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077456" y="3465576"/>
            <a:ext cx="1581912" cy="621792"/>
          </a:xfrm>
          <a:prstGeom prst="rect">
            <a:avLst/>
          </a:prstGeom>
          <a:solidFill>
            <a:srgbClr val="14364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77456" y="3465576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3,181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705088" y="3465576"/>
            <a:ext cx="1581912" cy="621792"/>
          </a:xfrm>
          <a:prstGeom prst="rect">
            <a:avLst/>
          </a:prstGeom>
          <a:solidFill>
            <a:srgbClr val="184561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05088" y="3465576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332720" y="3465576"/>
            <a:ext cx="1581912" cy="621792"/>
          </a:xfrm>
          <a:prstGeom prst="rect">
            <a:avLst/>
          </a:prstGeom>
          <a:solidFill>
            <a:srgbClr val="194865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332720" y="3465576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3,648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74320" y="4133088"/>
            <a:ext cx="1874520" cy="6217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3" name="Text 71"/>
          <p:cNvSpPr/>
          <p:nvPr/>
        </p:nvSpPr>
        <p:spPr>
          <a:xfrm>
            <a:off x="274320" y="4133088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194560" y="4133088"/>
            <a:ext cx="1581912" cy="621792"/>
          </a:xfrm>
          <a:prstGeom prst="rect">
            <a:avLst/>
          </a:prstGeom>
          <a:solidFill>
            <a:srgbClr val="25729B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94560" y="4133088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4,719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822192" y="4133088"/>
            <a:ext cx="1581912" cy="621792"/>
          </a:xfrm>
          <a:prstGeom prst="rect">
            <a:avLst/>
          </a:prstGeom>
          <a:solidFill>
            <a:srgbClr val="163F5A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22192" y="4133088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3,411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449824" y="4133088"/>
            <a:ext cx="1581912" cy="621792"/>
          </a:xfrm>
          <a:prstGeom prst="rect">
            <a:avLst/>
          </a:prstGeom>
          <a:solidFill>
            <a:srgbClr val="22668C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49824" y="4133088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4,421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077456" y="4133088"/>
            <a:ext cx="1581912" cy="621792"/>
          </a:xfrm>
          <a:prstGeom prst="rect">
            <a:avLst/>
          </a:prstGeom>
          <a:solidFill>
            <a:srgbClr val="216489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77456" y="4133088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4,362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705088" y="4133088"/>
            <a:ext cx="1581912" cy="621792"/>
          </a:xfrm>
          <a:prstGeom prst="rect">
            <a:avLst/>
          </a:prstGeom>
          <a:solidFill>
            <a:srgbClr val="1C5272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705088" y="4133088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0332720" y="4133088"/>
            <a:ext cx="1581912" cy="621792"/>
          </a:xfrm>
          <a:prstGeom prst="rect">
            <a:avLst/>
          </a:prstGeom>
          <a:solidFill>
            <a:srgbClr val="1D5677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32720" y="4133088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3,994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74320" y="4800600"/>
            <a:ext cx="187452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7" name="Text 85"/>
          <p:cNvSpPr/>
          <p:nvPr/>
        </p:nvSpPr>
        <p:spPr>
          <a:xfrm>
            <a:off x="274320" y="480060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194560" y="4800600"/>
            <a:ext cx="1581912" cy="621792"/>
          </a:xfrm>
          <a:prstGeom prst="rect">
            <a:avLst/>
          </a:prstGeom>
          <a:solidFill>
            <a:srgbClr val="102A3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94560" y="480060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2,865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822192" y="4800600"/>
            <a:ext cx="1581912" cy="621792"/>
          </a:xfrm>
          <a:prstGeom prst="rect">
            <a:avLst/>
          </a:prstGeom>
          <a:solidFill>
            <a:srgbClr val="163D56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22192" y="480060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3,347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449824" y="4800600"/>
            <a:ext cx="1581912" cy="621792"/>
          </a:xfrm>
          <a:prstGeom prst="rect">
            <a:avLst/>
          </a:prstGeom>
          <a:solidFill>
            <a:srgbClr val="194763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49824" y="480060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3,606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7077456" y="4800600"/>
            <a:ext cx="1581912" cy="621792"/>
          </a:xfrm>
          <a:prstGeom prst="rect">
            <a:avLst/>
          </a:prstGeom>
          <a:solidFill>
            <a:srgbClr val="22668C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077456" y="480060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4,429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8705088" y="4800600"/>
            <a:ext cx="1581912" cy="621792"/>
          </a:xfrm>
          <a:prstGeom prst="rect">
            <a:avLst/>
          </a:prstGeom>
          <a:solidFill>
            <a:srgbClr val="184663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705088" y="480060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3,593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0332720" y="4800600"/>
            <a:ext cx="1581912" cy="621792"/>
          </a:xfrm>
          <a:prstGeom prst="rect">
            <a:avLst/>
          </a:prstGeom>
          <a:solidFill>
            <a:srgbClr val="153A53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332720" y="4800600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3,279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274320" y="5468112"/>
            <a:ext cx="1874520" cy="6217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1" name="Text 99"/>
          <p:cNvSpPr/>
          <p:nvPr/>
        </p:nvSpPr>
        <p:spPr>
          <a:xfrm>
            <a:off x="274320" y="5468112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2194560" y="5468112"/>
            <a:ext cx="1581912" cy="621792"/>
          </a:xfrm>
          <a:prstGeom prst="rect">
            <a:avLst/>
          </a:prstGeom>
          <a:solidFill>
            <a:srgbClr val="22668C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194560" y="546811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4,411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822192" y="5468112"/>
            <a:ext cx="1581912" cy="621792"/>
          </a:xfrm>
          <a:prstGeom prst="rect">
            <a:avLst/>
          </a:prstGeom>
          <a:solidFill>
            <a:srgbClr val="1B4F6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22192" y="546811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3,819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5449824" y="5468112"/>
            <a:ext cx="1581912" cy="621792"/>
          </a:xfrm>
          <a:prstGeom prst="rect">
            <a:avLst/>
          </a:prstGeom>
          <a:solidFill>
            <a:srgbClr val="13354D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49824" y="546811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3,150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7077456" y="5468112"/>
            <a:ext cx="1581912" cy="621792"/>
          </a:xfrm>
          <a:prstGeom prst="rect">
            <a:avLst/>
          </a:prstGeom>
          <a:solidFill>
            <a:srgbClr val="0D2132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077456" y="546811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2,613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705088" y="5468112"/>
            <a:ext cx="1581912" cy="621792"/>
          </a:xfrm>
          <a:prstGeom prst="rect">
            <a:avLst/>
          </a:prstGeom>
          <a:solidFill>
            <a:srgbClr val="112C41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705088" y="546811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2,916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10332720" y="5468112"/>
            <a:ext cx="1581912" cy="621792"/>
          </a:xfrm>
          <a:prstGeom prst="rect">
            <a:avLst/>
          </a:prstGeom>
          <a:solidFill>
            <a:srgbClr val="184561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332720" y="5468112"/>
            <a:ext cx="1581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3,550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274320" y="6172200"/>
            <a:ext cx="1161288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457200" y="6236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1554480" y="62362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 under Phishing attacks records the highest financial loss ($4,362). Banking-Phishing ($5,146) is the single most expensive combination. Healthcare-Malware ($4,114) and IT-DDoS ($4,719) are critical exposure points demanding priority investment in detection and response.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COUNTRY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57784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Industry vs Total Attacks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536192"/>
            <a:ext cx="32004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1536192"/>
            <a:ext cx="3176077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554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2194560"/>
            <a:ext cx="32004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2194560"/>
            <a:ext cx="2915180" cy="320040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212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22,772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71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2852928"/>
            <a:ext cx="32004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2852928"/>
            <a:ext cx="2714579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8712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529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0" y="3511296"/>
            <a:ext cx="32004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3511296"/>
            <a:ext cx="2703698" cy="320040"/>
          </a:xfrm>
          <a:prstGeom prst="rect">
            <a:avLst/>
          </a:prstGeom>
          <a:solidFill>
            <a:srgbClr val="0C3249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5295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187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4169664"/>
            <a:ext cx="32004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4169664"/>
            <a:ext cx="2693585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41879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21,041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846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0" y="4828032"/>
            <a:ext cx="32004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Shape 26"/>
          <p:cNvSpPr/>
          <p:nvPr/>
        </p:nvSpPr>
        <p:spPr>
          <a:xfrm>
            <a:off x="1828800" y="4828032"/>
            <a:ext cx="2619079" cy="320040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48463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20,459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55046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0" y="5486400"/>
            <a:ext cx="320040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5486400"/>
            <a:ext cx="2569409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5504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20,071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1005840"/>
            <a:ext cx="5760720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107899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Targeted Countries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63640" y="15361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86600" y="1554480"/>
            <a:ext cx="3657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Shape 36"/>
          <p:cNvSpPr/>
          <p:nvPr/>
        </p:nvSpPr>
        <p:spPr>
          <a:xfrm>
            <a:off x="7086600" y="1554480"/>
            <a:ext cx="3557847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9" name="Text 37"/>
          <p:cNvSpPr/>
          <p:nvPr/>
        </p:nvSpPr>
        <p:spPr>
          <a:xfrm>
            <a:off x="10835640" y="15361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19385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86600" y="1956816"/>
            <a:ext cx="3657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Shape 40"/>
          <p:cNvSpPr/>
          <p:nvPr/>
        </p:nvSpPr>
        <p:spPr>
          <a:xfrm>
            <a:off x="7086600" y="1956816"/>
            <a:ext cx="3435927" cy="228600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43" name="Text 41"/>
          <p:cNvSpPr/>
          <p:nvPr/>
        </p:nvSpPr>
        <p:spPr>
          <a:xfrm>
            <a:off x="10835640" y="1938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234086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86600" y="2359152"/>
            <a:ext cx="3657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Shape 44"/>
          <p:cNvSpPr/>
          <p:nvPr/>
        </p:nvSpPr>
        <p:spPr>
          <a:xfrm>
            <a:off x="7086600" y="2359152"/>
            <a:ext cx="3413760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7" name="Text 45"/>
          <p:cNvSpPr/>
          <p:nvPr/>
        </p:nvSpPr>
        <p:spPr>
          <a:xfrm>
            <a:off x="10835640" y="23408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2743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86600" y="2761488"/>
            <a:ext cx="3657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0" name="Shape 48"/>
          <p:cNvSpPr/>
          <p:nvPr/>
        </p:nvSpPr>
        <p:spPr>
          <a:xfrm>
            <a:off x="7086600" y="2761488"/>
            <a:ext cx="3380509" cy="228600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51" name="Text 49"/>
          <p:cNvSpPr/>
          <p:nvPr/>
        </p:nvSpPr>
        <p:spPr>
          <a:xfrm>
            <a:off x="10835640" y="27432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31455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86600" y="3163824"/>
            <a:ext cx="3657600" cy="228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4" name="Shape 52"/>
          <p:cNvSpPr/>
          <p:nvPr/>
        </p:nvSpPr>
        <p:spPr>
          <a:xfrm>
            <a:off x="7086600" y="3163824"/>
            <a:ext cx="3380509" cy="2286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5" name="Text 53"/>
          <p:cNvSpPr/>
          <p:nvPr/>
        </p:nvSpPr>
        <p:spPr>
          <a:xfrm>
            <a:off x="10835640" y="31455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26480" y="3657600"/>
            <a:ext cx="5760720" cy="2651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309360" y="37307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 Attack Trend (by Year)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355080" y="5030629"/>
            <a:ext cx="411480" cy="1187291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9" name="Text 57"/>
          <p:cNvSpPr/>
          <p:nvPr/>
        </p:nvSpPr>
        <p:spPr>
          <a:xfrm>
            <a:off x="635508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355080" y="4829461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277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903720" y="4850606"/>
            <a:ext cx="411480" cy="1367314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62" name="Text 60"/>
          <p:cNvSpPr/>
          <p:nvPr/>
        </p:nvSpPr>
        <p:spPr>
          <a:xfrm>
            <a:off x="690372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903720" y="464943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452360" y="4996339"/>
            <a:ext cx="411480" cy="1221581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5" name="Text 63"/>
          <p:cNvSpPr/>
          <p:nvPr/>
        </p:nvSpPr>
        <p:spPr>
          <a:xfrm>
            <a:off x="745236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452360" y="4795171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001000" y="4889183"/>
            <a:ext cx="411480" cy="1328738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68" name="Text 66"/>
          <p:cNvSpPr/>
          <p:nvPr/>
        </p:nvSpPr>
        <p:spPr>
          <a:xfrm>
            <a:off x="800100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001000" y="4688015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549640" y="5090636"/>
            <a:ext cx="411480" cy="112728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1" name="Text 69"/>
          <p:cNvSpPr/>
          <p:nvPr/>
        </p:nvSpPr>
        <p:spPr>
          <a:xfrm>
            <a:off x="854964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8549640" y="488946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9098280" y="4867751"/>
            <a:ext cx="411480" cy="1350169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74" name="Text 72"/>
          <p:cNvSpPr/>
          <p:nvPr/>
        </p:nvSpPr>
        <p:spPr>
          <a:xfrm>
            <a:off x="909828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9098280" y="4666583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9646920" y="4936331"/>
            <a:ext cx="411480" cy="1281589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7" name="Text 75"/>
          <p:cNvSpPr/>
          <p:nvPr/>
        </p:nvSpPr>
        <p:spPr>
          <a:xfrm>
            <a:off x="964692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9646920" y="4735163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0195560" y="4854892"/>
            <a:ext cx="411480" cy="1363028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80" name="Text 78"/>
          <p:cNvSpPr/>
          <p:nvPr/>
        </p:nvSpPr>
        <p:spPr>
          <a:xfrm>
            <a:off x="1019556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0195560" y="4653725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0744200" y="4867751"/>
            <a:ext cx="411480" cy="1350169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3" name="Text 81"/>
          <p:cNvSpPr/>
          <p:nvPr/>
        </p:nvSpPr>
        <p:spPr>
          <a:xfrm>
            <a:off x="1074420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10744200" y="4666583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1292840" y="4936331"/>
            <a:ext cx="411480" cy="1281589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86" name="Text 84"/>
          <p:cNvSpPr/>
          <p:nvPr/>
        </p:nvSpPr>
        <p:spPr>
          <a:xfrm>
            <a:off x="11292840" y="623620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1292840" y="4735163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0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581912"/>
            <a:ext cx="182880" cy="18288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3619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 threats are persistent and diverse, with 3,000 recorded incidents across 10 countries and 7 industries.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221992"/>
            <a:ext cx="182880" cy="18288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7627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and Phishing are the dominant attack vectors, requiring immediate and sustained defensive focus.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62072"/>
            <a:ext cx="182880" cy="18288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81635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Banking sectors face the highest exposure, with financial losses and user impact concentrated in these verticals.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502152"/>
            <a:ext cx="182880" cy="18288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45643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vulnerabilities (785) are the most exploited weakness, highlighting the urgent need for proactive patch management.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4142232"/>
            <a:ext cx="182880" cy="18288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409651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Nation-state actors represent the most impactful identified threat source, demanding geopolitical-level response frameworks.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782312"/>
            <a:ext cx="182880" cy="18288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3659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incident resolution time of 36.48 hours signals significant room to improve detection-to-response efficiency.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5422392"/>
            <a:ext cx="182880" cy="182880"/>
          </a:xfrm>
          <a:prstGeom prst="ellipse">
            <a:avLst/>
          </a:prstGeom>
          <a:solidFill>
            <a:srgbClr val="14A0A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537667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losses exceeding $50M per incident underscore the critical importance of proactive cybersecurity investment.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1005840"/>
            <a:ext cx="5852160" cy="5303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0972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1581912"/>
            <a:ext cx="4114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58191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56248" y="16002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AI-powered DDoS mitigation and traffic anomaly detection at network perimeter.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221992"/>
            <a:ext cx="4114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222199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6248" y="2240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Zero Trust Architecture (ZTA) to reduce lateral movement risk after breaches.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2862072"/>
            <a:ext cx="4114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86207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56248" y="2880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patch management programs with SLA-bound vulnerability remediation timelines.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3502152"/>
            <a:ext cx="4114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502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56248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Security Operations Centers (SOC) to reduce average resolution time below 24 hours.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4142232"/>
            <a:ext cx="4114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414223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56248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cross-industry threat-sharing platforms (ISACs) to improve collective defense intelligence.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4782312"/>
            <a:ext cx="4114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478231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56248" y="48006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multi-factor authentication across all enterprise systems to counter phishing and MitM.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80760" y="5422392"/>
            <a:ext cx="41148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080760" y="542239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56248" y="5440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regular cyber war-game exercises to test incident response readiness and reduce financial exposure.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12024360" y="0"/>
            <a:ext cx="137160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4892040" y="365760"/>
            <a:ext cx="2377440" cy="2377440"/>
          </a:xfrm>
          <a:prstGeom prst="ellipse">
            <a:avLst/>
          </a:prstGeom>
          <a:solidFill>
            <a:srgbClr val="0C2040"/>
          </a:solidFill>
          <a:ln w="38100">
            <a:solidFill>
              <a:srgbClr val="14A0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4572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🌐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828800" y="3794760"/>
            <a:ext cx="8503920" cy="54864"/>
          </a:xfrm>
          <a:prstGeom prst="rect">
            <a:avLst/>
          </a:prstGeom>
          <a:solidFill>
            <a:srgbClr val="14A0A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9319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Threats Intelligence Dashboard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461772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Microsoft Power BI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53949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BATCH-2 GROUP-D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E7C8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Cybersecurity Threats Intelligence</dc:title>
  <dc:subject>PptxGenJS Presentation</dc:subject>
  <dc:creator>PptxGenJS</dc:creator>
  <cp:lastModifiedBy>PptxGenJS</cp:lastModifiedBy>
  <cp:revision>1</cp:revision>
  <dcterms:created xsi:type="dcterms:W3CDTF">2026-05-10T20:09:41Z</dcterms:created>
  <dcterms:modified xsi:type="dcterms:W3CDTF">2026-05-10T20:09:41Z</dcterms:modified>
</cp:coreProperties>
</file>